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Módulos incluidos</c:v>
                </c:pt>
              </c:strCache>
            </c:strRef>
          </c:tx>
          <c:spPr>
            <a:solidFill>
              <a:srgbClr val="14A7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A2E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A7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Esencial</c:v>
                  </c:pt>
                  <c:pt idx="1">
                    <c:v>Avanzado</c:v>
                  </c:pt>
                  <c:pt idx="2">
                    <c:v>Completo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34</c:v>
                </c:pt>
                <c:pt idx="2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0A2E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0A2E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comercial. Nombre de marca provisional.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Sustituir por datos de contacto reales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Colegia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colegio, por fin en un solo sitio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para centros concertados, públicos y privados.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en España, para el modelo educativo español.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512064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120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2026 / 2027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colegio trabaja dos veces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hoy ocurre en la mayoría de centros concertados de Madrid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32304"/>
            <a:ext cx="566928" cy="566928"/>
          </a:xfrm>
          <a:prstGeom prst="ellipse">
            <a:avLst/>
          </a:prstGeom>
          <a:solidFill>
            <a:srgbClr val="C4822A"/>
          </a:solidFill>
          <a:ln w="12700">
            <a:solidFill>
              <a:srgbClr val="C482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694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4688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grabación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se introduce en Raíces y en la herramienta interna. Dos veces, cada vez.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219456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432304"/>
            <a:ext cx="566928" cy="566928"/>
          </a:xfrm>
          <a:prstGeom prst="ellipse">
            <a:avLst/>
          </a:prstGeom>
          <a:solidFill>
            <a:srgbClr val="C4822A"/>
          </a:solidFill>
          <a:ln w="12700">
            <a:solidFill>
              <a:srgbClr val="C482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5694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9976" y="24688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Islas de datos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03320" y="306324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 en una hoja, transporte en otra, recibos en el banco. Nada se cruza.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19456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432304"/>
            <a:ext cx="566928" cy="566928"/>
          </a:xfrm>
          <a:prstGeom prst="ellipse">
            <a:avLst/>
          </a:prstGeom>
          <a:solidFill>
            <a:srgbClr val="C4822A"/>
          </a:solidFill>
          <a:ln w="12700">
            <a:solidFill>
              <a:srgbClr val="C482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5694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68896" y="24688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rota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06324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Circulares en papel, avisos por WhatsApp y familias que no se enteran.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219456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432304"/>
            <a:ext cx="566928" cy="566928"/>
          </a:xfrm>
          <a:prstGeom prst="ellipse">
            <a:avLst/>
          </a:prstGeom>
          <a:solidFill>
            <a:srgbClr val="C4822A"/>
          </a:solidFill>
          <a:ln w="12700">
            <a:solidFill>
              <a:srgbClr val="C482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5694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57816" y="24688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legal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81160" y="306324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menores en hojas compartidas, sin consentimientos ni trazabilidad.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no es el software: es el tiempo del equipo y el error humano.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sustituimos a Raíces. Lo alimentamos.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y Roble siguen siendo el sistema oficial. Nosotros eliminamos la doble grabación.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4F8F7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/ Roble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oficial de la Consejería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oficial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y promoción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oficiales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la Administración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3429000"/>
            <a:ext cx="914400" cy="45720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6172200" cy="3200400"/>
          </a:xfrm>
          <a:prstGeom prst="roundRect">
            <a:avLst>
              <a:gd name="adj" fmla="val 3429"/>
            </a:avLst>
          </a:prstGeom>
          <a:solidFill>
            <a:srgbClr val="0A2E2D"/>
          </a:solidFill>
          <a:ln w="12700">
            <a:solidFill>
              <a:srgbClr val="0A2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286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Colegia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26700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gestión diaria del centro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127248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diaria, horarios y calificaciones internas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familias y portales por rol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becas, comedor y transporte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humanos, jornada y convivencia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de Infantil 0-3 como sistema oficial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introduce una sola vez, donde se genera.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plataforma, todo el centro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sobre el modelo educativo español, no adaptada de otro país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24231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29000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por 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4231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217920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de interfaz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documentos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24231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006840" y="329184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años, de la cuna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Bachillerato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34240"/>
          </a:solidFill>
          <a:ln w="12700">
            <a:solidFill>
              <a:srgbClr val="134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8920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centro tiene su propio espacio aislado, su marca, su calendario y los módulos que decida activar. Se paga por lo que se usa.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persona ve lo que necesita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portales sobre la misma plataforma, con permisos hasta el último detalle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237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4231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y secretaría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07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Matrícula, cuadros de mando, facturación, personal, cumplimiento normativo y configuración del centro.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214884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38658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5237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9976" y="24231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03320" y="3017520"/>
            <a:ext cx="207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de lista en dos toques, calificaciones, incidencias, comunicación con familias y su horario.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386584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5237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68896" y="24231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017520"/>
            <a:ext cx="207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faltas, circulares, autorizaciones, recibos, comedor y transporte. En el móvil.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214884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386584"/>
            <a:ext cx="566928" cy="566928"/>
          </a:xfrm>
          <a:prstGeom prst="ellipse">
            <a:avLst/>
          </a:prstGeom>
          <a:solidFill>
            <a:srgbClr val="C4822A"/>
          </a:solidFill>
          <a:ln w="12700">
            <a:solidFill>
              <a:srgbClr val="C482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52374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57816" y="24231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Alumnado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81160" y="3017520"/>
            <a:ext cx="207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Horario, tareas, calificaciones y comunicación con el centro, adaptado a su edad.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castellano, inglés, alemán y francés. Cada usuario elige su idioma.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módulos, seis áreas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activan por centro. Lo que no se contrata, no aparece en la interfaz.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237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Alumnado, familias, tutores, personal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0" y="23865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38658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5237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horarios, asistencia, notas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86600" y="23865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5237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769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2104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becas, recibos, cobros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789920" y="23865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64008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6112" y="453542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67258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9105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1440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Transporte, comedor, extraescolares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383280" y="45354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434340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9432" y="453542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672584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9437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461772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convivencia, salud, riesgos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086600" y="45354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804672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02752" y="453542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672584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9769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832104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Portales, API, copias, soporte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0789920" y="45354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60520" cy="5669280"/>
          </a:xfrm>
          <a:prstGeom prst="roundRect">
            <a:avLst>
              <a:gd name="adj" fmla="val 3077"/>
            </a:avLst>
          </a:prstGeom>
          <a:solidFill>
            <a:srgbClr val="0A2E2D"/>
          </a:solidFill>
          <a:ln w="12700">
            <a:solidFill>
              <a:srgbClr val="0A2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1481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Esencial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funcionando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que quieren dejar el papel y la hoja de cálculo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3,20 €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alumno y mes · orientativo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módulos incluidos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868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57800" y="1463040"/>
            <a:ext cx="6263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Alumnado, matrícula y expediente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familiar, tutores y autorizados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académica, grupos y horarios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de lista y control de asistencia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y boletines en PDF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Mensajería, circulares y calendario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familias, docente y alumno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de Infantil 0-3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seguridad y migración de datos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60520" cy="5669280"/>
          </a:xfrm>
          <a:prstGeom prst="roundRect">
            <a:avLst>
              <a:gd name="adj" fmla="val 3077"/>
            </a:avLst>
          </a:prstGeom>
          <a:solidFill>
            <a:srgbClr val="0A2E2D"/>
          </a:solidFill>
          <a:ln w="12700">
            <a:solidFill>
              <a:srgbClr val="0A2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1481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Avanzado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completa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concertados y privados con facturación propia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5,40 €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alumno y mes · orientativo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módulos incluidos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868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57800" y="1463040"/>
            <a:ext cx="6263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paquete Esencial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recibos y remesas SEPA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Becas, ayudas y bonificaciones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escolar y rutas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 y menús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extraescolares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y control de jornada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Convivencia y partes de incidencia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y registro de actividades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Cuadros de mando e informes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60520" cy="5669280"/>
          </a:xfrm>
          <a:prstGeom prst="roundRect">
            <a:avLst>
              <a:gd name="adj" fmla="val 3077"/>
            </a:avLst>
          </a:prstGeom>
          <a:solidFill>
            <a:srgbClr val="0A2E2D"/>
          </a:solidFill>
          <a:ln w="12700">
            <a:solidFill>
              <a:srgbClr val="0A2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1481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centro, en un sitio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educativos y centros con servicios propios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7,90 €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alumno y mes · orientativo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módulos incluidos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868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57800" y="1463040"/>
            <a:ext cx="6263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paquete Avanzado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libros y material curricular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y uniformes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pública del centro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Nóminas y gestión de espacios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virtual y biblioteca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y gobierno del centro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Admisión, CRM y captación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abierta e integraciones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con marca del centro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paquetes, de un vistazo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subir de paquete en cualquier momento del curso, sin migrar nada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42900"/>
          </a:xfrm>
          <a:prstGeom prst="rect">
            <a:avLst/>
          </a:prstGeom>
          <a:solidFill>
            <a:srgbClr val="0A2E2D"/>
          </a:solidFill>
          <a:ln w="6350">
            <a:solidFill>
              <a:srgbClr val="0A2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1965960"/>
            <a:ext cx="2103120" cy="342900"/>
          </a:xfrm>
          <a:prstGeom prst="rect">
            <a:avLst/>
          </a:prstGeom>
          <a:solidFill>
            <a:srgbClr val="0A2E2D"/>
          </a:solidFill>
          <a:ln w="6350">
            <a:solidFill>
              <a:srgbClr val="0A2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965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0" y="1965960"/>
            <a:ext cx="2103120" cy="342900"/>
          </a:xfrm>
          <a:prstGeom prst="rect">
            <a:avLst/>
          </a:prstGeom>
          <a:solidFill>
            <a:srgbClr val="0A2E2D"/>
          </a:solidFill>
          <a:ln w="6350">
            <a:solidFill>
              <a:srgbClr val="0A2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965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966960" y="1965960"/>
            <a:ext cx="2103120" cy="342900"/>
          </a:xfrm>
          <a:prstGeom prst="rect">
            <a:avLst/>
          </a:prstGeom>
          <a:solidFill>
            <a:srgbClr val="0A2E2D"/>
          </a:solidFill>
          <a:ln w="6350">
            <a:solidFill>
              <a:srgbClr val="0A2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1965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3088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088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Alumnado, familias y expediente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308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308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2308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308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66960" y="2308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308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512064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6517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asistencia y calificaciones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60720" y="26517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6517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26517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6517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66960" y="26517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6517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29946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29946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de familia, docente y alumno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60720" y="29946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9946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29946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9946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66960" y="29946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29946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3337560"/>
            <a:ext cx="512064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33375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de Infantil 0-3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60720" y="33375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3375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63840" y="33375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3375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966960" y="33375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6960" y="33375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36804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36804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recibos y becas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760720" y="36804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6804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863840" y="36804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36804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966960" y="36804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36804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4023360"/>
            <a:ext cx="512064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40233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Transporte, comedor y extraescolares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760720" y="40233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0233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863840" y="40233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63840" y="40233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966960" y="40233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66960" y="40233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40080" y="43662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" y="43662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y control de jornada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760720" y="43662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43662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863840" y="43662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0" y="43662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966960" y="43662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66960" y="43662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40080" y="4709160"/>
            <a:ext cx="512064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4672" y="47091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Cuadros de mando e informes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760720" y="47091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47091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863840" y="47091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47091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9966960" y="47091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966960" y="47091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640080" y="50520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4672" y="50520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libros, tienda y web pública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5760720" y="50520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0" y="50520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7863840" y="50520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0" y="50520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966960" y="50520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966960" y="50520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640080" y="5394960"/>
            <a:ext cx="512064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4672" y="53949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virtual, biblioteca y admisión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760720" y="53949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60720" y="5394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863840" y="53949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0" y="5394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9966960" y="5394960"/>
            <a:ext cx="2103120" cy="342900"/>
          </a:xfrm>
          <a:prstGeom prst="rect">
            <a:avLst/>
          </a:prstGeom>
          <a:solidFill>
            <a:srgbClr val="F4F8F7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966960" y="53949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640080" y="5737860"/>
            <a:ext cx="5120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4672" y="5737860"/>
            <a:ext cx="495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abierta y apps con marca propia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5760720" y="5737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0" y="5737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7863840" y="5737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63840" y="5737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A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9966960" y="5737860"/>
            <a:ext cx="21031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966960" y="573786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cubre cada paquete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incluidos sobre el total de la plataforma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96596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54112" y="220370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234086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49056" y="224028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empieza por donde duele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77240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centros arrancan con Esencial y suben a Avanzado en el segundo trimestre, cuando ven el ahorro en secretaría.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98080" y="40690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54112" y="4306824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444398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49056" y="434340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migración al subir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772400" y="4937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paquete activa módulos sobre los mismos datos. No hay traspaso, ni parada del servicio, ni coste de implantación.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encontrará en otras plataformas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decisiones de producto que marcan la diferencia en el día a día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34240"/>
          </a:solidFill>
          <a:ln w="12700">
            <a:solidFill>
              <a:srgbClr val="13424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9514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323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33172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Infantil 0-3 de verdad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diaria del aula, evaluación cualitativa, ratios, becas de la Comunidad y facturación privada. No es Primaria recortada.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34240"/>
          </a:solidFill>
          <a:ln w="12700">
            <a:solidFill>
              <a:srgbClr val="13424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295144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4323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0336" y="233172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idiomas, tres capas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9260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Interfaz, contenido del centro y documentos generados. El boletín sale en el idioma de la familia, no en el del colegio.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34240"/>
          </a:solidFill>
          <a:ln w="12700">
            <a:solidFill>
              <a:srgbClr val="13424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535424"/>
            <a:ext cx="566928" cy="566928"/>
          </a:xfrm>
          <a:prstGeom prst="ellipse">
            <a:avLst/>
          </a:prstGeom>
          <a:solidFill>
            <a:srgbClr val="14A79B"/>
          </a:solidFill>
          <a:ln w="12700">
            <a:solidFill>
              <a:srgbClr val="14A79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6725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1056" y="457200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con seguridad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5166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Autorizados a recoger, registro de subida y bajada, y alerta si un alumno sube y no consta que baje.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134240"/>
          </a:solidFill>
          <a:ln w="12700">
            <a:solidFill>
              <a:srgbClr val="13424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535424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67258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0336" y="457200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de serie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0" y="5166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 de imagen granulares, datos de salud separados y cifrados, y trazabilidad de cada acceso.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menores. Sin atajos.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es responsable del tratamiento. Nosotros, encargados con contrato.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237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europeo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en la Unión Europea, cifrado en tránsito y en reposo.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5237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vio qué y cuándo, incluida la lectura de datos sensibles.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38658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5237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7696" y="24231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factor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0175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para los roles que el centro decida, no solo para el administrador.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53542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67258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9105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verificadas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probada de forma automática, no solo copias que nadie comprueba.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53542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67258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437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y restricciones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 con acceso revocado por sentencia queda excluido de todos los servicios a la vez.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42976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sx="100000" sy="100000" kx="0" ky="0" algn="bl" rotWithShape="0" blurRad="101600" dist="12700" dir="5400000">
              <a:srgbClr val="0A2E2D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535424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67258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7696" y="457200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las familias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1663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rectificación y supresión, respetando los plazos legales de conservación.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papel a la plataforma en un trimestre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Acompañamos la migración. El centro no se queda solo con un manual.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qué usa hoy el centro y qué datos hay que traer.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3774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657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Importamos alumnado, familias y personal desde su sistema actual.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3774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6948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por rol: secretaría, claustro y familias.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06840" y="2103120"/>
            <a:ext cx="2624328" cy="2743200"/>
          </a:xfrm>
          <a:prstGeom prst="roundRect">
            <a:avLst>
              <a:gd name="adj" fmla="val 418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3774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05840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8116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1160" y="3657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acompañada, con soporte reforzado el primer mes.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coste de implantación en el paquete Completo. Sin permanencia en ninguno.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486400" cy="5486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57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¿Empezamos por su centro?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60120" y="3200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un centro piloto para el curso 2026/2027. Condiciones especiales,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FB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al equipo de producto y voz en la hoja de ruta.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448056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480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una demostración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Colegia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Colegia · Plataforma de gestión educativa</dc:title>
  <dc:subject>PptxGenJS Presentation</dc:subject>
  <dc:creator>Colegia</dc:creator>
  <cp:lastModifiedBy>Colegia</cp:lastModifiedBy>
  <cp:revision>1</cp:revision>
  <dcterms:created xsi:type="dcterms:W3CDTF">2026-08-12T11:37:29Z</dcterms:created>
  <dcterms:modified xsi:type="dcterms:W3CDTF">2026-08-12T11:37:29Z</dcterms:modified>
</cp:coreProperties>
</file>